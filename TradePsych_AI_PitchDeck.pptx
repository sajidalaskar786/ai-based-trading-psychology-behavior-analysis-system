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657600"/>
          </a:xfrm>
          <a:prstGeom prst="rect">
            <a:avLst/>
          </a:prstGeom>
          <a:gradFill rotWithShape="1">
            <a:gsLst>
              <a:gs pos="0">
                <a:srgbClr val="120935"/>
              </a:gs>
              <a:gs pos="100000">
                <a:srgbClr val="08101F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TradePsych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84831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A38BFD"/>
                </a:solidFill>
                <a:latin typeface="Calibri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443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"Know Why You Lose Before You Lose Again."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456432"/>
            <a:ext cx="822960" cy="54864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AI-powered trading psychology analysis that turns behavioral
blind spots into a competitive 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80560"/>
            <a:ext cx="2240280" cy="347472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26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38BFD"/>
                </a:solidFill>
                <a:latin typeface="Calibri"/>
              </a:rPr>
              <a:t>Upload Your Trades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480560"/>
            <a:ext cx="2240280" cy="347472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4526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38BFD"/>
                </a:solidFill>
                <a:latin typeface="Calibri"/>
              </a:rPr>
              <a:t>Get Your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4480560"/>
            <a:ext cx="2240280" cy="347472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79" y="4526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38BFD"/>
                </a:solidFill>
                <a:latin typeface="Calibri"/>
              </a:rPr>
              <a:t>Trade Better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874519"/>
            <a:ext cx="1572768" cy="1234440"/>
          </a:xfrm>
          <a:prstGeom prst="roundRect">
            <a:avLst/>
          </a:prstGeom>
          <a:solidFill>
            <a:srgbClr val="092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002536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MVP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24327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Working Product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9880" y="1874519"/>
            <a:ext cx="1572768" cy="1234440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A3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2002536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38BFD"/>
                </a:solidFill>
                <a:latin typeface="Calibri"/>
              </a:rP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624327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3291839"/>
            <a:ext cx="1572768" cy="1234440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3419856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D3EE"/>
                </a:solidFill>
                <a:latin typeface="Calibri"/>
              </a:rPr>
              <a:t>19+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04164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Behavioral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69880" y="3291839"/>
            <a:ext cx="1572768" cy="1234440"/>
          </a:xfrm>
          <a:prstGeom prst="roundRect">
            <a:avLst/>
          </a:prstGeom>
          <a:solidFill>
            <a:srgbClr val="1E1809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1320" y="3419856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&lt; 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404164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Report Generated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Investor Pitch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1645920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⚠ 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80% of retail traders lose money — not because of bad strategy,
but because of </a:t>
            </a:r>
            <a:r>
              <a:rPr sz="2000" b="1">
                <a:solidFill>
                  <a:srgbClr val="A38BFD"/>
                </a:solidFill>
                <a:latin typeface="Calibri"/>
              </a:rPr>
              <a:t>bad psychology.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3749039" cy="1572768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Emotional Trading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6148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Traders revenge-trade, panic-exit, and FOMO into bad positions under stress — driven by emotion, not plan.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749039" cy="1572768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93852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423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Self-Awareness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6148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Brokers provide P&amp;L reports but zero behavioral insight. Traders know their losses — not their WHY.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749039" cy="1572768"/>
          </a:xfrm>
          <a:prstGeom prst="roundRect">
            <a:avLst/>
          </a:prstGeom>
          <a:solidFill>
            <a:srgbClr val="091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93852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423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Repeating Mistakes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76148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Without diagnosis, the same patterns repeat across hundreds of trades — costing real money every session.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520440"/>
            <a:ext cx="11475720" cy="1444752"/>
          </a:xfrm>
          <a:prstGeom prst="roundRect">
            <a:avLst/>
          </a:prstGeom>
          <a:solidFill>
            <a:srgbClr val="1A0818"/>
          </a:solidFill>
          <a:ln w="9525">
            <a:solidFill>
              <a:srgbClr val="501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75887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43F5E"/>
                </a:solidFill>
                <a:latin typeface="Calibri"/>
              </a:rPr>
              <a:t>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7939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Retail traders lose money
in 3 yrs (SEBI 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75887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43F5E"/>
                </a:solidFill>
                <a:latin typeface="Calibri"/>
              </a:rPr>
              <a:t>72%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27939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Losses from behavioral bias,
not market conditions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75887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43F5E"/>
                </a:solidFill>
                <a:latin typeface="Calibri"/>
              </a:rPr>
              <a:t>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7939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F&amp;O traders lost money
in FY22-23 (SEBI)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675887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43F5E"/>
                </a:solidFill>
                <a:latin typeface="Calibri"/>
              </a:rPr>
              <a:t>₹1.1T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27939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Lost annually by retail
investors (NSE Data)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102352"/>
            <a:ext cx="11475720" cy="658368"/>
          </a:xfrm>
          <a:prstGeom prst="roundRect">
            <a:avLst/>
          </a:prstGeom>
          <a:solidFill>
            <a:srgbClr val="0F0B30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395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"The market doesn't beat the trader. The trader beats himself."   — Jesse Livermore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2975457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288401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💡   SOLUTION &amp; ABOUT 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The World's First </a:t>
            </a:r>
            <a:r>
              <a:rPr sz="2000" b="1">
                <a:solidFill>
                  <a:srgbClr val="A38BFD"/>
                </a:solidFill>
                <a:latin typeface="Calibri"/>
              </a:rPr>
              <a:t>Behavioral Intelligence Platform</a:t>
            </a:r>
            <a:r>
              <a:rPr sz="2000" b="1">
                <a:solidFill>
                  <a:srgbClr val="FFFFFF"/>
                </a:solidFill>
                <a:latin typeface="Calibri"/>
              </a:rPr>
              <a:t> for Retail Traders.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WHAT WE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75688"/>
            <a:ext cx="384048" cy="384048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A3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112264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8BFD"/>
                </a:solidFill>
                <a:latin typeface="Calibr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6829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Revenge trading, FOMO, panic exits, overtrading, overconfidence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34056"/>
            <a:ext cx="384048" cy="384048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77063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614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2666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ML-powered trader profile with confidence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92424"/>
            <a:ext cx="384048" cy="384048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42900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19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8503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Which behaviors cost you money — exact ₹ amounts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050791"/>
            <a:ext cx="384048" cy="384048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08736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782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Harmful patterns likely to recur — before they 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709160"/>
            <a:ext cx="384048" cy="384048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A3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74573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365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8BFD"/>
                </a:solidFill>
                <a:latin typeface="Calibri"/>
              </a:rPr>
              <a:t>Train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0176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Build better habits in a real-time simulation environment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755648"/>
            <a:ext cx="5623560" cy="1993392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88366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8BFD"/>
                </a:solidFill>
                <a:latin typeface="Calibri"/>
              </a:rPr>
              <a:t>📂  Upload &amp; 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24942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Upload brokerage P&amp;L → instant AI psychology report in 5 seconds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5257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Trader Profile (5 types)  •  6 Behavioral Risk Scores
• Loss Attribution in ₹     •  Future Risk Predictions
• Specific Actionable Coaching Recommendations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86200"/>
            <a:ext cx="5623560" cy="1993392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00507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🎮  Live Trading Simulator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708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Trade ₹10,00,000 virtual capital across NSE / NASDAQ / Crypto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81728"/>
            <a:ext cx="5257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1 trading month = 15 real minutes (time compression)
• 19 live behavioral metrics updated in real-time as you trade
• On-demand Psychology Report from your session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961888"/>
            <a:ext cx="11475720" cy="658368"/>
          </a:xfrm>
          <a:prstGeom prst="roundRect">
            <a:avLst/>
          </a:prstGeom>
          <a:solidFill>
            <a:srgbClr val="0D1A2E"/>
          </a:solidFill>
          <a:ln w="9525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035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Founded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254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6035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6254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MVP Live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6035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Tech Stack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6254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FastAPI + Random Forest + SHAP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6035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6254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AI/ML + Trading Experts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2009851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9184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✅   MARKET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The demand is </a:t>
            </a:r>
            <a:r>
              <a:rPr sz="2000" b="1">
                <a:solidFill>
                  <a:srgbClr val="A38BFD"/>
                </a:solidFill>
                <a:latin typeface="Calibri"/>
              </a:rPr>
              <a:t>real, proven,</a:t>
            </a:r>
            <a:r>
              <a:rPr sz="2000" b="1">
                <a:solidFill>
                  <a:srgbClr val="FFFFFF"/>
                </a:solidFill>
                <a:latin typeface="Calibri"/>
              </a:rPr>
              <a:t> and growing.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55648"/>
            <a:ext cx="5669280" cy="2240280"/>
          </a:xfrm>
          <a:prstGeom prst="roundRect">
            <a:avLst/>
          </a:prstGeom>
          <a:solidFill>
            <a:srgbClr val="1E1809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92807"/>
            <a:ext cx="54864" cy="36576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F59E0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9280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⚖   Regulatory 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04288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SEBI's 2023 circular mandated brokers disclose loss stats.
89% of F&amp;O traders lost money in FY22-23 (SEBI).
This created massive public demand for behavioral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55648"/>
            <a:ext cx="5669280" cy="2240280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92807"/>
            <a:ext cx="54864" cy="36576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89280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🔍   Search &amp; Community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304288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"Trading psychology" India searches: +340% YoY growth
Zerodha Tradingqna + Reddit India: thousands of posts monthly
Hindi trading psychology YouTube: 50M+ combined 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51376"/>
            <a:ext cx="5669280" cy="2240280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A3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88536"/>
            <a:ext cx="54864" cy="365760"/>
          </a:xfrm>
          <a:prstGeom prst="rect">
            <a:avLst/>
          </a:prstGeom>
          <a:gradFill rotWithShape="1">
            <a:gsLst>
              <a:gs pos="0">
                <a:srgbClr val="A38BFD"/>
              </a:gs>
              <a:gs pos="100000">
                <a:srgbClr val="A38B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2885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8BFD"/>
                </a:solidFill>
                <a:latin typeface="Calibri"/>
              </a:rPr>
              <a:t>📊   Comparable Product 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700016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Tradervue (US): 200,000+ traders using journaling tools
Edgewonk (DE): €2M+ ARR from trade journaling SaaS
Neither offers ML profiling or simulation coaching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151376"/>
            <a:ext cx="5669280" cy="2240280"/>
          </a:xfrm>
          <a:prstGeom prst="roundRect">
            <a:avLst/>
          </a:prstGeom>
          <a:solidFill>
            <a:srgbClr val="091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4288536"/>
            <a:ext cx="54864" cy="36576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10B98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42885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🧪   Early User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4700016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Tested with real Zerodha, Groww &amp; Upstox P&amp;L files
Auto-parsed 5+ broker formats — zero manual configuration
"I never knew I was revenge trading until I saw the score."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1645920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🌏   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 </a:t>
            </a:r>
            <a:r>
              <a:rPr sz="2000" b="1">
                <a:solidFill>
                  <a:srgbClr val="A38BFD"/>
                </a:solidFill>
                <a:latin typeface="Calibri"/>
              </a:rPr>
              <a:t>₹50,000 Cr+</a:t>
            </a:r>
            <a:r>
              <a:rPr sz="2000" b="1">
                <a:solidFill>
                  <a:srgbClr val="FFFFFF"/>
                </a:solidFill>
                <a:latin typeface="Calibri"/>
              </a:rPr>
              <a:t> addressable market at the intersection of fintech and edtech.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55648"/>
            <a:ext cx="5669280" cy="1170432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A3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8BFD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847088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38BFD"/>
                </a:solidFill>
                <a:latin typeface="Calibri"/>
              </a:rPr>
              <a:t>~$12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414015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~180M retail traders worldwide needing behavioral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054096"/>
            <a:ext cx="5669280" cy="1170432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63824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145536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D3EE"/>
                </a:solidFill>
                <a:latin typeface="Calibri"/>
              </a:rPr>
              <a:t>~$2.1 Billion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712463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~40M active DEMAT accounts in India + SE Asia F&amp;O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352544"/>
            <a:ext cx="5669280" cy="1170432"/>
          </a:xfrm>
          <a:prstGeom prst="roundRect">
            <a:avLst/>
          </a:prstGeom>
          <a:solidFill>
            <a:srgbClr val="091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6227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443983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  <a:latin typeface="Calibri"/>
              </a:rPr>
              <a:t>~$50 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50109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Target: 500K paid users by Year 3 on digital-first brokers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55648"/>
            <a:ext cx="5577840" cy="1170432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A3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4708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38BFD"/>
                </a:solidFill>
                <a:latin typeface="Calibri"/>
              </a:rPr>
              <a:t>34M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323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New DEMAT accounts added in India in FY2023-24 alone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54096"/>
            <a:ext cx="5577840" cy="1170432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145536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Calibri"/>
              </a:rPr>
              <a:t>300%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307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F&amp;O volume growth in 3 years — proportional behavioral risk rise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352544"/>
            <a:ext cx="5577840" cy="1170432"/>
          </a:xfrm>
          <a:prstGeom prst="roundRect">
            <a:avLst/>
          </a:prstGeom>
          <a:solidFill>
            <a:srgbClr val="091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443983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29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Annual growth of India's ₹5,000 Cr+ trading education market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650992"/>
            <a:ext cx="5577840" cy="1170432"/>
          </a:xfrm>
          <a:prstGeom prst="roundRect">
            <a:avLst/>
          </a:prstGeom>
          <a:solidFill>
            <a:srgbClr val="1E1809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742431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$3.2B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6327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Global Trading Tools &amp; Software market projected by 2028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1645920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📱 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Two products. One mission: Make every trader </a:t>
            </a:r>
            <a:r>
              <a:rPr sz="2000" b="1">
                <a:solidFill>
                  <a:srgbClr val="A38BFD"/>
                </a:solidFill>
                <a:latin typeface="Calibri"/>
              </a:rPr>
              <a:t>psychologically self-aware.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55648"/>
            <a:ext cx="5669280" cy="4828032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8BFD"/>
                </a:solidFill>
                <a:latin typeface="Calibri"/>
              </a:rPr>
              <a:t>📂   Upload &amp; Analyze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59152"/>
            <a:ext cx="365760" cy="365760"/>
          </a:xfrm>
          <a:prstGeom prst="roundRect">
            <a:avLst/>
          </a:prstGeom>
          <a:solidFill>
            <a:srgbClr val="221455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414016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38BFD"/>
                </a:solidFill>
                <a:latin typeface="Calibr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4048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Upload your brokerage P&amp;L file (CSV / Excel)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80944"/>
            <a:ext cx="365760" cy="365760"/>
          </a:xfrm>
          <a:prstGeom prst="roundRect">
            <a:avLst/>
          </a:prstGeom>
          <a:solidFill>
            <a:srgbClr val="221455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03580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38BFD"/>
                </a:solidFill>
                <a:latin typeface="Calibri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266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AI extracts 19 features, runs Random Forest + SHAP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02736"/>
            <a:ext cx="365760" cy="365760"/>
          </a:xfrm>
          <a:prstGeom prst="roundRect">
            <a:avLst/>
          </a:prstGeom>
          <a:solidFill>
            <a:srgbClr val="221455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65760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38BFD"/>
                </a:solidFill>
                <a:latin typeface="Calibr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64845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Full Psychology Report delivered in under 5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611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Report includes: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354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🧠  Trader Profile (5 types)  |  📊 6 Behavioral Risk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011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💸  Loss Attribution in ₹     |  🔮 Future Risk Predictions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6694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📋  Specific Actionable Coaching 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989320"/>
            <a:ext cx="5669280" cy="438912"/>
          </a:xfrm>
          <a:prstGeom prst="roundRect">
            <a:avLst/>
          </a:prstGeom>
          <a:solidFill>
            <a:srgbClr val="0D0A25"/>
          </a:solidFill>
          <a:ln w="9525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08990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Supports: Zerodha  ·  Groww  ·  Upstox  ·  Angel One  ·  HDFC  ·  and more (auto-detected)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755648"/>
            <a:ext cx="5669280" cy="4828032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88366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🎮   Live Trading 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59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39572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₹10,00,000 virtual capital — zero financial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9535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299008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Markets: NSE / NASDAQ / Crypto in one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47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358444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 trading month = 15 real minutes (time compression)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142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417880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19 live behavioral metrics updating as you trade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736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477316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On-demand Psychology Report from your sim session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330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536752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Optional Groww API for live market price feeds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035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D3EE"/>
                </a:solidFill>
                <a:latin typeface="Calibri"/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382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Live Metrics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6035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D3EE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6382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Markets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6035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15m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63825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= 1 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1768449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67700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💰  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Three revenue streams. </a:t>
            </a:r>
            <a:r>
              <a:rPr sz="2000" b="1">
                <a:solidFill>
                  <a:srgbClr val="A38BFD"/>
                </a:solidFill>
                <a:latin typeface="Calibri"/>
              </a:rPr>
              <a:t>SaaS first,</a:t>
            </a:r>
            <a:r>
              <a:rPr sz="2000" b="1">
                <a:solidFill>
                  <a:srgbClr val="FFFFFF"/>
                </a:solidFill>
                <a:latin typeface="Calibri"/>
              </a:rPr>
              <a:t> data and B2B second.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55648"/>
            <a:ext cx="3749039" cy="2286000"/>
          </a:xfrm>
          <a:prstGeom prst="roundRect">
            <a:avLst/>
          </a:prstGeom>
          <a:solidFill>
            <a:srgbClr val="0D1A2E"/>
          </a:solidFill>
          <a:ln w="9525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4A3B8"/>
                </a:solidFill>
                <a:latin typeface="Calibri"/>
              </a:rPr>
              <a:t>₹0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5292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1 analysis/month
Basic profile only
Summary stats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55648"/>
            <a:ext cx="3749039" cy="2286000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836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5CFC"/>
                </a:solidFill>
                <a:latin typeface="Calibri"/>
              </a:rPr>
              <a:t>PRO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762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₹499 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5292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Unlimited analyses
Full behavioral report
Loss attribution + future risks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55648"/>
            <a:ext cx="3749039" cy="2286000"/>
          </a:xfrm>
          <a:prstGeom prst="roundRect">
            <a:avLst/>
          </a:prstGeom>
          <a:solidFill>
            <a:srgbClr val="0D1A2E"/>
          </a:solidFill>
          <a:ln w="9525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836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ELITE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762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4A3B8"/>
                </a:solidFill>
                <a:latin typeface="Calibri"/>
              </a:rPr>
              <a:t>₹999 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5292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Everything in Pro
Simulator access included
Historical archive + priority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87952"/>
            <a:ext cx="5669280" cy="2395728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3159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🏢   B2B LICENSING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81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→  Brokers (Zerodha, Groww)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9560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White-label analytics API — revenue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303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→  Trading Academies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577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Bulk simulation licenses — per-seat annual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25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→  SEBI-registered RIAs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1996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Client behavioral profiling — monthly SaaS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187952"/>
            <a:ext cx="5669280" cy="2395728"/>
          </a:xfrm>
          <a:prstGeom prst="roundRect">
            <a:avLst/>
          </a:prstGeom>
          <a:solidFill>
            <a:srgbClr val="1E1809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3159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📡   UNIT ECONOMICS  (Year 2 Projected)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6817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Monthly Active 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46817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0109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Paid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50109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34009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ARPU / 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53400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₹399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669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5669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₹200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998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Lifetime Value (LTV)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59984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₹2,394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63276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LTV : CAC Ratio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63276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 :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2009851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9184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🚀   ADOPTION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Community-first. Then </a:t>
            </a:r>
            <a:r>
              <a:rPr sz="2000" b="1">
                <a:solidFill>
                  <a:srgbClr val="A38BFD"/>
                </a:solidFill>
                <a:latin typeface="Calibri"/>
              </a:rPr>
              <a:t>broker partnerships.</a:t>
            </a:r>
            <a:r>
              <a:rPr sz="2000" b="1">
                <a:solidFill>
                  <a:srgbClr val="FFFFFF"/>
                </a:solidFill>
                <a:latin typeface="Calibri"/>
              </a:rPr>
              <a:t> Then platform dominance.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55648"/>
            <a:ext cx="5669280" cy="2304288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901952"/>
            <a:ext cx="420624" cy="420624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A3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93852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38BF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Organic Community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3113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38BFD"/>
                </a:solidFill>
                <a:latin typeface="Calibri"/>
              </a:rPr>
              <a:t>Months 1–6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60320"/>
            <a:ext cx="5303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• Viral 'Know Your Trader Type' quiz on Instagram &amp; Twitter/X
• Seed Zerodha Tradingqna, Reddit India, Telegram (5M+ members)
• Influencer partnerships in Hindi trading YouTube
• Free tier → Pro upgrade CTA on every single report
• Referral: Share profile → earn 1 month Pro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55648"/>
            <a:ext cx="5669280" cy="2304288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901952"/>
            <a:ext cx="420624" cy="420624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3852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D3E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9202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Strategic Broker 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3113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Calibri"/>
              </a:rPr>
              <a:t>Months 6–18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560320"/>
            <a:ext cx="5303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• White-label API pitch to Zerodha, Groww, Upstox
• SEBI mandate = position as compliance + value-add tool
• Integration = instant access to broker's entire user 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206240"/>
            <a:ext cx="5669280" cy="2304288"/>
          </a:xfrm>
          <a:prstGeom prst="roundRect">
            <a:avLst/>
          </a:prstGeom>
          <a:solidFill>
            <a:srgbClr val="091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" y="4352544"/>
            <a:ext cx="420624" cy="420624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38912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70831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Education 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81727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Months 12–24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010912"/>
            <a:ext cx="5303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• Partner with NISM-certified trading academies
• SEBI-registered RIA platform integrations
• Launch 'TradePsych Certified' improvement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206240"/>
            <a:ext cx="5669280" cy="2304288"/>
          </a:xfrm>
          <a:prstGeom prst="roundRect">
            <a:avLst/>
          </a:prstGeom>
          <a:solidFill>
            <a:srgbClr val="1E1809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28232" y="4352544"/>
            <a:ext cx="420624" cy="420624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438912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370831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International 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681727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Year 2+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5010912"/>
            <a:ext cx="5303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• Adapt for US, UK, UAE retail trader markets
• Hindi support from Day 1 of launch
• Target SE Asia: Philippines, Indonesia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1645920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⚔  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No one closes the </a:t>
            </a:r>
            <a:r>
              <a:rPr sz="2000" b="1">
                <a:solidFill>
                  <a:srgbClr val="A38BFD"/>
                </a:solidFill>
                <a:latin typeface="Calibri"/>
              </a:rPr>
              <a:t>behavioral gap.</a:t>
            </a:r>
            <a:r>
              <a:rPr sz="2000" b="1">
                <a:solidFill>
                  <a:srgbClr val="FFFFFF"/>
                </a:solidFill>
                <a:latin typeface="Calibri"/>
              </a:rPr>
              <a:t> Adjacent players exist — but fall short.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55648"/>
            <a:ext cx="11475720" cy="384048"/>
          </a:xfrm>
          <a:prstGeom prst="roundRect">
            <a:avLst/>
          </a:prstGeom>
          <a:solidFill>
            <a:srgbClr val="120C2E"/>
          </a:solidFill>
          <a:ln w="9525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80136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8416" y="1801368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38BFD"/>
                </a:solidFill>
                <a:latin typeface="Calibri"/>
              </a:rPr>
              <a:t>TradePsych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8112" y="180136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Tradervue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144" y="180136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Edgewonk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801368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Zerodha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2912" y="1801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Coaching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176272"/>
            <a:ext cx="11475720" cy="402336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25856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ML Behavioral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2258568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258568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2258568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258568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2" y="22585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596896"/>
            <a:ext cx="11475720" cy="402336"/>
          </a:xfrm>
          <a:prstGeom prst="roundRect">
            <a:avLst/>
          </a:prstGeom>
          <a:solidFill>
            <a:srgbClr val="0D1A2E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679191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SHAP 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2679191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2679191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2679191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2679191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26791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017520"/>
            <a:ext cx="11475720" cy="402336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3099815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Auto Brokerage Parsing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3099815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✓  50+ formats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3099815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Partial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3099815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Partial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3099815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309981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438144"/>
            <a:ext cx="11475720" cy="402336"/>
          </a:xfrm>
          <a:prstGeom prst="roundRect">
            <a:avLst/>
          </a:prstGeom>
          <a:solidFill>
            <a:srgbClr val="0D1A2E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3520439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Loss Attribution in 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28416" y="3520439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8112" y="3520439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67144" y="3520439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3520439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82912" y="35204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3858768"/>
            <a:ext cx="11475720" cy="402336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3941063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Live Simulation + Coaching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28416" y="3941063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3941063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7144" y="3941063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3941063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82912" y="394106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4279392"/>
            <a:ext cx="11475720" cy="402336"/>
          </a:xfrm>
          <a:prstGeom prst="roundRect">
            <a:avLst/>
          </a:prstGeom>
          <a:solidFill>
            <a:srgbClr val="0D1A2E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" y="436168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Real-time Behavioral Alerts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8416" y="4361688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68112" y="4361688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67144" y="4361688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66176" y="4361688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2912" y="43616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" y="4700016"/>
            <a:ext cx="11475720" cy="402336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4782312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India-First (INR/NSE/BSE)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28416" y="4782312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68112" y="4782312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67144" y="4782312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  <a:latin typeface="Calibri"/>
              </a:rPr>
              <a:t>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6" y="4782312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82912" y="47823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Some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5120640"/>
            <a:ext cx="11475720" cy="402336"/>
          </a:xfrm>
          <a:prstGeom prst="roundRect">
            <a:avLst/>
          </a:prstGeom>
          <a:solidFill>
            <a:srgbClr val="0D1A2E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" y="5202936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Freemium SaaS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28416" y="5202936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68112" y="5202936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Paid only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67144" y="5202936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€169/yr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6" y="5202936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Free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82912" y="52029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760" y="5596128"/>
            <a:ext cx="11475720" cy="658368"/>
          </a:xfrm>
          <a:prstGeom prst="roundRect">
            <a:avLst/>
          </a:prstGeom>
          <a:solidFill>
            <a:srgbClr val="100C30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" y="57332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8BFD"/>
                </a:solidFill>
                <a:latin typeface="Calibri"/>
              </a:rPr>
              <a:t>Our Moat: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37360" y="57332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The only platform combining ML classification + SHAP explainability + behavioral simulation + India-native file parsing in a single product.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2412187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232074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🛡   COMPETITIVE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Five </a:t>
            </a:r>
            <a:r>
              <a:rPr sz="2000" b="1">
                <a:solidFill>
                  <a:srgbClr val="A38BFD"/>
                </a:solidFill>
                <a:latin typeface="Calibri"/>
              </a:rPr>
              <a:t>unfair advantages</a:t>
            </a:r>
            <a:r>
              <a:rPr sz="2000" b="1">
                <a:solidFill>
                  <a:srgbClr val="FFFFFF"/>
                </a:solidFill>
                <a:latin typeface="Calibri"/>
              </a:rPr>
              <a:t> that are hard to replicate.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55648"/>
            <a:ext cx="3657600" cy="2176272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A3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883664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38BFD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44144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🤖  AI + Psychology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798063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Random Forest + SHAP makes our model interpretable, not just accurate. Traders see exactly WHY they were classified, ranked by behavioral driver. Transparency builds trust and drives re-engagement.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8" y="1755648"/>
            <a:ext cx="3657600" cy="2176272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83664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4144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🇮🇳  India-Native File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98063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50+ column name variants auto-detected across Zerodha, Groww, Upstox, Angel One, HDFC &amp; more — including multi-row metadata headers. Competitors need manual mapping. We do it in under 2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755648"/>
            <a:ext cx="3657600" cy="2176272"/>
          </a:xfrm>
          <a:prstGeom prst="roundRect">
            <a:avLst/>
          </a:prstGeom>
          <a:solidFill>
            <a:srgbClr val="091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883664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44144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🎮  Dual-Mode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798063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We diagnose AND train. Live simulation + diagnostic analytics in one product. No competitor combines both modes. This is our strongest user retention lever.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33087"/>
            <a:ext cx="3657600" cy="2176272"/>
          </a:xfrm>
          <a:prstGeom prst="roundRect">
            <a:avLst/>
          </a:prstGeom>
          <a:solidFill>
            <a:srgbClr val="1E1809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261103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81888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📡  Behavioral Data Network 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175503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Every analysis enriches our training dataset. More traders = smarter models. A compounding advantage that gets stronger over time and cannot be easily replicated.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78808" y="4133087"/>
            <a:ext cx="3657600" cy="2176272"/>
          </a:xfrm>
          <a:prstGeom prst="roundRect">
            <a:avLst/>
          </a:prstGeom>
          <a:solidFill>
            <a:srgbClr val="1E0914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261103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3F5E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81888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⚖  Regulatory Tailwind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175503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SEBI's mandate makes behavioral risk a compliance concern for brokers. TradePsych is positioned as the solution brokers need — turning regulation directly into a distribution channel.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4133087"/>
            <a:ext cx="3657600" cy="2176272"/>
          </a:xfrm>
          <a:prstGeom prst="roundRect">
            <a:avLst/>
          </a:prstGeom>
          <a:solidFill>
            <a:srgbClr val="091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856" y="431596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4892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Combined Moat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5303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Technology × Distribution × Regulation
A flywheel that gets stronger with every user.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2009851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9184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💬   USER TESTIMONIALS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Real traders. </a:t>
            </a:r>
            <a:r>
              <a:rPr sz="2000" b="1">
                <a:solidFill>
                  <a:srgbClr val="A38BFD"/>
                </a:solidFill>
                <a:latin typeface="Calibri"/>
              </a:rPr>
              <a:t>Real behavioral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55648"/>
            <a:ext cx="3749039" cy="3547872"/>
          </a:xfrm>
          <a:prstGeom prst="roundRect">
            <a:avLst/>
          </a:prstGeom>
          <a:solidFill>
            <a:srgbClr val="130C35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A38BFD"/>
                </a:solidFill>
                <a:latin typeface="Calibri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383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"I uploaded 6 months of Zerodha trades and found out I was revenge trading after losses — something I always suspected but could never prove. The platform showed me exactly how many times and how much it cost me. Absolutely mind-blowing."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38BFD"/>
                </a:solidFill>
                <a:latin typeface="Calibri"/>
              </a:rPr>
              <a:t>Rahul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365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Equity Trader, Mumbai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109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Calibri"/>
              </a:rPr>
              <a:t>⭐⭐⭐⭐⭐   Emotional Trader → Improving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755648"/>
            <a:ext cx="3749039" cy="3547872"/>
          </a:xfrm>
          <a:prstGeom prst="roundRect">
            <a:avLst/>
          </a:prstGeom>
          <a:solidFill>
            <a:srgbClr val="091E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10512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22D3EE"/>
                </a:solidFill>
                <a:latin typeface="Calibri"/>
              </a:rPr>
              <a:t>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23160"/>
            <a:ext cx="3383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"My profit factor went from 0.8 to 1.4 in 3 months after identifying my overtrading habit. I now set a daily trade limit based on the recommendation. It literally changed how I approach every single trading session."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434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D3EE"/>
                </a:solidFill>
                <a:latin typeface="Calibri"/>
              </a:rPr>
              <a:t>Sanjay 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7365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Intraday Trader, Hyderabad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0109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Calibri"/>
              </a:rPr>
              <a:t>⭐⭐⭐⭐⭐   Impulsive → Disciplined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755648"/>
            <a:ext cx="3749039" cy="3547872"/>
          </a:xfrm>
          <a:prstGeom prst="roundRect">
            <a:avLst/>
          </a:prstGeom>
          <a:solidFill>
            <a:srgbClr val="091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810512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0B981"/>
                </a:solidFill>
                <a:latin typeface="Calibri"/>
              </a:rPr>
              <a:t>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23160"/>
            <a:ext cx="3383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"The simulation is addictive. I ran 3 sessions in one evening just to watch my behavioral scores improve. It's like a gym for your trading mindset — except this one tells you exactly which muscle you need to train."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434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  <a:latin typeface="Calibri"/>
              </a:rPr>
              <a:t>Priya 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7365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F&amp;O Trader, Bangalore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0109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Calibri"/>
              </a:rPr>
              <a:t>⭐⭐⭐⭐⭐   Started Simulation Mode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440680"/>
            <a:ext cx="11475720" cy="1170432"/>
          </a:xfrm>
          <a:prstGeom prst="roundRect">
            <a:avLst/>
          </a:prstGeom>
          <a:solidFill>
            <a:srgbClr val="0D1A2E"/>
          </a:solidFill>
          <a:ln w="9525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229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BETA 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424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38BFD"/>
                </a:solidFill>
                <a:latin typeface="Calibri"/>
              </a:rPr>
              <a:t>200+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362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Beta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912" y="57424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62362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NPS Score
(World Class)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57424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Calibri"/>
              </a:rPr>
              <a:t>73%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2624" y="62362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Re-generation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0336" y="57424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18min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0336" y="62362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Avg Session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57424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38BFD"/>
                </a:solidFill>
                <a:latin typeface="Calibri"/>
              </a:rPr>
              <a:t>61%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62362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Changed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ψ  TradePsych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75488"/>
            <a:ext cx="1645920" cy="274320"/>
          </a:xfrm>
          <a:prstGeom prst="roundRect">
            <a:avLst/>
          </a:prstGeom>
          <a:solidFill>
            <a:srgbClr val="180D42"/>
          </a:solidFill>
          <a:ln w="9525">
            <a:solidFill>
              <a:srgbClr val="4A3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8BFD"/>
                </a:solidFill>
                <a:latin typeface="Calibri"/>
              </a:rPr>
              <a:t>📊   FINANCIAL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Realistic, grounded projections for a </a:t>
            </a:r>
            <a:r>
              <a:rPr sz="2000" b="1">
                <a:solidFill>
                  <a:srgbClr val="A38BFD"/>
                </a:solidFill>
                <a:latin typeface="Calibri"/>
              </a:rPr>
              <a:t>bootstrapped-to-seed</a:t>
            </a:r>
            <a:r>
              <a:rPr sz="2000" b="1">
                <a:solidFill>
                  <a:srgbClr val="FFFFFF"/>
                </a:solidFill>
                <a:latin typeface="Calibri"/>
              </a:rPr>
              <a:t> stage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94360" cy="50292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REVENUE PROJECTIONS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29968"/>
            <a:ext cx="5989320" cy="347472"/>
          </a:xfrm>
          <a:prstGeom prst="roundRect">
            <a:avLst/>
          </a:prstGeom>
          <a:solidFill>
            <a:srgbClr val="100C2E"/>
          </a:solidFill>
          <a:ln w="9525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207568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38BFD"/>
                </a:solidFill>
                <a:latin typeface="Calibri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075688"/>
            <a:ext cx="9875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Year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2075688"/>
            <a:ext cx="9875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Year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1" y="2075688"/>
            <a:ext cx="9875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Year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404872"/>
            <a:ext cx="5989320" cy="384048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2487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Free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2487168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3944" y="2487168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1" y="2487168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807208"/>
            <a:ext cx="5989320" cy="384048"/>
          </a:xfrm>
          <a:prstGeom prst="roundRect">
            <a:avLst/>
          </a:prstGeom>
          <a:solidFill>
            <a:srgbClr val="0D1A2E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2889503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Paid Users (~10%)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889503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3944" y="2889503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2889503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1,500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209544"/>
            <a:ext cx="5989320" cy="384048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329183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ARPU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3291839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₹299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3944" y="3291839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₹399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1" y="3291839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₹499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611880"/>
            <a:ext cx="5989320" cy="384048"/>
          </a:xfrm>
          <a:prstGeom prst="roundRect">
            <a:avLst/>
          </a:prstGeom>
          <a:solidFill>
            <a:srgbClr val="0D1A2E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36941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B2B Contracts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62656" y="3694176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23944" y="3694176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1" y="3694176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014215"/>
            <a:ext cx="5989320" cy="384048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4096511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Total ARR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62656" y="4096511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38BFD"/>
                </a:solidFill>
                <a:latin typeface="Calibri"/>
              </a:rPr>
              <a:t>₹2.87 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23944" y="4096511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38BFD"/>
                </a:solidFill>
                <a:latin typeface="Calibri"/>
              </a:rPr>
              <a:t>₹25.1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1" y="4096511"/>
            <a:ext cx="9875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38BFD"/>
                </a:solidFill>
                <a:latin typeface="Calibri"/>
              </a:rPr>
              <a:t>₹1.29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4988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MONTHLY BURN  (Year 1)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791456"/>
            <a:ext cx="5989320" cy="310896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484632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Cloud Infra (Render/Railway)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84632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₹5,000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120640"/>
            <a:ext cx="5989320" cy="310896"/>
          </a:xfrm>
          <a:prstGeom prst="roundRect">
            <a:avLst/>
          </a:prstGeom>
          <a:solidFill>
            <a:srgbClr val="0D1A2E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5175504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Engineering (Founders + PT)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17550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₹60,000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449824"/>
            <a:ext cx="5989320" cy="310896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5504688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Marketing &amp; Content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5046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₹10,000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5779008"/>
            <a:ext cx="5989320" cy="310896"/>
          </a:xfrm>
          <a:prstGeom prst="roundRect">
            <a:avLst/>
          </a:prstGeom>
          <a:solidFill>
            <a:srgbClr val="0D1A2E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583387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Tools &amp; Subscriptions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83387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₹5,000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6108192"/>
            <a:ext cx="5989320" cy="310896"/>
          </a:xfrm>
          <a:prstGeom prst="roundRect">
            <a:avLst/>
          </a:prstGeom>
          <a:solidFill>
            <a:srgbClr val="0C162A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" y="6163055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Miscellaneous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6163055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₹5,000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6437376"/>
            <a:ext cx="5989320" cy="310896"/>
          </a:xfrm>
          <a:prstGeom prst="roundRect">
            <a:avLst/>
          </a:prstGeom>
          <a:solidFill>
            <a:srgbClr val="0D1A2E"/>
          </a:solidFill>
          <a:ln w="3810">
            <a:solidFill>
              <a:srgbClr val="1E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649224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38BFD"/>
                </a:solidFill>
                <a:latin typeface="Calibri"/>
              </a:rPr>
              <a:t>Total Monthly Burn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64922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A38BFD"/>
                </a:solidFill>
                <a:latin typeface="Calibri"/>
              </a:rPr>
              <a:t>₹85,000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37960" y="1755648"/>
            <a:ext cx="5349240" cy="3218688"/>
          </a:xfrm>
          <a:prstGeom prst="roundRect">
            <a:avLst/>
          </a:prstGeom>
          <a:solidFill>
            <a:srgbClr val="100830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37960" y="1755648"/>
            <a:ext cx="5349240" cy="54864"/>
          </a:xfrm>
          <a:prstGeom prst="rect">
            <a:avLst/>
          </a:prstGeom>
          <a:gradFill rotWithShape="1">
            <a:gsLst>
              <a:gs pos="0">
                <a:srgbClr val="7C5CFC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48272" y="188366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SEEKING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2" y="2139696"/>
            <a:ext cx="4937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A38BFD"/>
                </a:solidFill>
                <a:latin typeface="Calibri"/>
              </a:rPr>
              <a:t>₹40 Lakhs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48272" y="294436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Pre-Seed / Angel Round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8272" y="3337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Product &amp; Hosting (12 mo)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33375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38BFD"/>
                </a:solidFill>
                <a:latin typeface="Calibri"/>
              </a:rPr>
              <a:t>35%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25328" y="333756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₹14L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272" y="3730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Marketing, SEO &amp; Community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6960" y="373075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38BFD"/>
                </a:solidFill>
                <a:latin typeface="Calibri"/>
              </a:rPr>
              <a:t>30%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25328" y="3730752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₹12L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48272" y="4123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Engineering Hire (Full-Time)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4123944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38BFD"/>
                </a:solidFill>
                <a:latin typeface="Calibri"/>
              </a:rPr>
              <a:t>25%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25328" y="4123944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₹10L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48272" y="45171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Legal &amp; Operations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451713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38BFD"/>
                </a:solidFill>
                <a:latin typeface="Calibri"/>
              </a:rPr>
              <a:t>10%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25328" y="451713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₹4L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37960" y="5120640"/>
            <a:ext cx="5349240" cy="1508760"/>
          </a:xfrm>
          <a:prstGeom prst="roundRect">
            <a:avLst/>
          </a:prstGeom>
          <a:solidFill>
            <a:srgbClr val="091E1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37960" y="5120640"/>
            <a:ext cx="5349240" cy="4572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48272" y="523036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⚖   BREAK-EVEN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48272" y="55412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~285 paid subscribers @ ₹299/mo covers all operating costs.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48272" y="59070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Achievable by Month 7–9 based on current beta momentum.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4922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KEY MILESTONES WITH THIS FUNDING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6693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38BFD"/>
                </a:solidFill>
                <a:latin typeface="Calibri"/>
              </a:rPr>
              <a:t>Month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90372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100 paid users, product stable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74519" y="6693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Month 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74519" y="690372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300 paid users, ₹90K MRR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83279" y="6693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Month 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79" y="690372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1 B2B contract signed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92040" y="6693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Month 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92040" y="690372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₹25L ARR, Series A prep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